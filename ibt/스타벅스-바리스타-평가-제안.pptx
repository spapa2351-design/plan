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2004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D3B8"/>
                </a:solidFill>
                <a:latin typeface="Malgun Gothic"/>
                <a:ea typeface="Malgun Gothic"/>
                <a:cs typeface="Malgun Gothic"/>
              </a:rPr>
              <a:t>STARBUCKS · 바리스타 교육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78992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매장에서 직접 해보고, 30분 안에 제출하면,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1차 채점하고 사람이 확정한다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0B8C1"/>
                </a:solidFill>
                <a:latin typeface="Malgun Gothic"/>
                <a:ea typeface="Malgun Gothic"/>
                <a:cs typeface="Malgun Gothic"/>
              </a:rPr>
              <a:t>터치클래스 기반 온라인 수행·서술형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문제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지금, 바리스타 실무 역량은 평가하기 어렵다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548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819656"/>
            <a:ext cx="262432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정답이 하나가 아니다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06040"/>
            <a:ext cx="3172968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테이스팅·센서리 표현은 객관식으로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잡히지 않는 수행·서술 역량입니다.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향·산미·바디를 말로 풀어내는 답은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여러 갈래라, 채점 기준이 흐릿하고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보는 사람마다 다르게 읽힙니다.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417320"/>
            <a:ext cx="363016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691640"/>
            <a:ext cx="548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19656"/>
            <a:ext cx="262432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한자리에 모이기 어렵다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606040"/>
            <a:ext cx="3172968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전국 매장·교대 근무 구조에서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바리스타를 한곳에 모아 평가하는 건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운영 부담이 큽니다.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각자 자기 매장에서 평가받을 수 있는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원격 방식이 필요합니다.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3" y="1417320"/>
            <a:ext cx="3630168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1691640"/>
            <a:ext cx="548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3" y="1819656"/>
            <a:ext cx="262432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채점 부담이 크다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606040"/>
            <a:ext cx="3172968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백지에서 서술형 답안을 읽고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점수를 매기는 일은 채점자 부담이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크고, 채점자마다 점수가 갈립니다.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공정성과 일관성을 지키기가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쉽지 않습니다.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해결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검증된 평가 엔진 위에 얹어, 빠르고 안전하게 도입한다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69164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한 줄 콘셉트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스타벅스가 자기 매장에서 직접 수행한 실습을 </a:t>
            </a:r>
            <a:r>
              <a:rPr sz="19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30분 제한</a:t>
            </a:r>
            <a:r>
              <a:rPr sz="19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 안에 제출하면,</a:t>
            </a:r>
          </a:p>
          <a:p>
            <a:pPr algn="l">
              <a:lnSpc>
                <a:spcPct val="118000"/>
              </a:lnSpc>
            </a:pPr>
            <a:r>
              <a:rPr sz="19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AI가 1차 채점</a:t>
            </a:r>
            <a:r>
              <a:rPr sz="19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하고 </a:t>
            </a:r>
            <a:r>
              <a:rPr sz="19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사람이 확정</a:t>
            </a:r>
            <a:r>
              <a:rPr sz="19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하는 온라인 평가.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이 방식이 맞는 이유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913632"/>
            <a:ext cx="3337560" cy="18836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수행·서술 역량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300984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정답이 여러 갈래라 객관식이 아니라 루브릭 채점이 맞습니다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3" y="3913632"/>
            <a:ext cx="3337560" cy="18836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내부 자료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389120"/>
            <a:ext cx="3300984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새 평가틀을 만들지 않고 스타벅스 내부 자료를 지문으로 그대로 녹입니다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3" y="3794760"/>
            <a:ext cx="36301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3913632"/>
            <a:ext cx="3337560" cy="188366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도입이 가볍다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3" y="4389120"/>
            <a:ext cx="3300984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검증된 엔진 기반이라 도입 리스크·비용 부담이 작습니다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해결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세 가지 장치로, 앞의 세 가지 문제를 푼다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27632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E6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55064"/>
            <a:ext cx="63276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장치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2186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내부 자료 내재화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18688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스타벅스 내부 자료를 평가 지문이자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AI 채점 사전으로 함께 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7639"/>
            <a:ext cx="3172968" cy="13716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85292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→ 문제 ① 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2852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채점 어휘가 공통 사전으로 고정돼 기준이 또렷해진다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417320"/>
            <a:ext cx="3630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1" y="1627632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1655064"/>
            <a:ext cx="63276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B64DA"/>
                </a:solidFill>
                <a:latin typeface="Malgun Gothic"/>
                <a:ea typeface="Malgun Gothic"/>
                <a:cs typeface="Malgun Gothic"/>
              </a:rPr>
              <a:t>장치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2103120"/>
            <a:ext cx="32186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개인 원격 30분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743200"/>
            <a:ext cx="3218688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시간창 안에 각자 매장에서 30분 수행·제출.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끊겨도 자동저장으로 복구. 행위는 시스템 밖.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9431" y="3977639"/>
            <a:ext cx="3172968" cy="1371600"/>
          </a:xfrm>
          <a:prstGeom prst="roundRect">
            <a:avLst>
              <a:gd name="adj" fmla="val 6000"/>
            </a:avLst>
          </a:prstGeom>
          <a:solidFill>
            <a:srgbClr val="E8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4114800"/>
            <a:ext cx="285292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64DA"/>
                </a:solidFill>
                <a:latin typeface="Malgun Gothic"/>
                <a:ea typeface="Malgun Gothic"/>
                <a:cs typeface="Malgun Gothic"/>
              </a:rPr>
              <a:t>→ 문제 ② 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4526280"/>
            <a:ext cx="2852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모이지 않고 자기 매장에서 응시한다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3" y="1417320"/>
            <a:ext cx="3630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1624" y="1627632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E6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1655064"/>
            <a:ext cx="63276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장치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103120"/>
            <a:ext cx="32186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AI 1차 → 사람 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743200"/>
            <a:ext cx="3218688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루브릭을 배점화 → AI가 충족판정·잠정점수·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코멘트 초안. 사람이 손대야 확정.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21624" y="3977639"/>
            <a:ext cx="3172968" cy="13716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04503" y="4114800"/>
            <a:ext cx="285292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→ 문제 ③ 완화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3" y="4526280"/>
            <a:ext cx="2852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백지 채점이 아니라 초안 검수 + 점수차 누적 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데모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한 번 따라가 보겠습니다 — 만들고, 응시하고, 채점한다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569463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① 문제 빌더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0896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관리자 · 만들기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2880360"/>
            <a:ext cx="283464" cy="274320"/>
          </a:xfrm>
          <a:prstGeom prst="rightArrow">
            <a:avLst/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1498" y="23317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7802" y="2569463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② 30분 응시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7802" y="310896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학습자 · 직접 수행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7457" y="2880360"/>
            <a:ext cx="283464" cy="274320"/>
          </a:xfrm>
          <a:prstGeom prst="rightArrow">
            <a:avLst/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4355" y="23317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0659" y="2569463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0659" y="310896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텍스트 + 사진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00316" y="2880360"/>
            <a:ext cx="283464" cy="274320"/>
          </a:xfrm>
          <a:prstGeom prst="rightArrow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7213" y="23317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3517" y="2569463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③ 채점·확정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3517" y="310896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관리자 · AI→사람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93174" y="2880360"/>
            <a:ext cx="283464" cy="274320"/>
          </a:xfrm>
          <a:prstGeom prst="rightArrow">
            <a:avLst/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20072" y="23317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6376" y="2569463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결과·이력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310896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합격 = 자격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학습자 ↔ 관리자가 같은 한 흐름 위에서 움직입니다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708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다음 3장에서 </a:t>
            </a:r>
            <a:r>
              <a:rPr sz="13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실제 화면 캡처</a:t>
            </a: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로 ① 빌더 · ② 응시 · ③ 채점·확정을 차례로 보여드립니다.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데모 ① · 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문제 빌더 — 서술형 문항에 자료·가이드·루브릭을 얹는다</a:t>
            </a:r>
          </a:p>
        </p:txBody>
      </p:sp>
      <p:pic>
        <p:nvPicPr>
          <p:cNvPr id="7" name="Picture 6" descr="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03720" cy="5411024"/>
          </a:xfrm>
          <a:prstGeom prst="rect">
            <a:avLst/>
          </a:prstGeom>
          <a:ln w="12700">
            <a:solidFill>
              <a:srgbClr val="D1D6DB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7680960" y="1417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536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서술형 수행과제 문항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자료 첨부 · 작성가이드(단계) · 제한시간을 갖춘 문항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560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679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자료 = 내부 자료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첨부한 내부 자료가 문제 지문·채점 사전과 연결된다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703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822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루브릭에 배점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체크포인트마다 점수 → AI가 읽고 1차 채점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846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4965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합격·채점자 설정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70점 컷오프 · 점장 1인 / 2인 교차 토글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데모 ② · 학습자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30분 응시 — 자기 매장에서 직접 수행하고 서술 제출</a:t>
            </a:r>
          </a:p>
        </p:txBody>
      </p:sp>
      <p:pic>
        <p:nvPicPr>
          <p:cNvPr id="7" name="Picture 6" descr="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03720" cy="5784198"/>
          </a:xfrm>
          <a:prstGeom prst="rect">
            <a:avLst/>
          </a:prstGeom>
          <a:ln w="12700">
            <a:solidFill>
              <a:srgbClr val="D1D6DB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7680960" y="1417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536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30분 타이머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시간창 안에 시작 → 5분 전 경고 · 0초 자동제출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560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679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좌 문제 / 우 답안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문제·작성가이드·내부 자료 + 답안 한 칸 + 사진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703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822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끊겨도 복구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자동저장이 모바일 이탈을 보완 (PC 권장)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846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DF1E2"/>
          </a:solidFill>
          <a:ln w="12700">
            <a:solidFill>
              <a:srgbClr val="C27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4965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'행위'는 시스템 밖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실제 시음·추출은 응시자가 직접. 시스템은 열람·제출·채점만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데모 ③ · 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AI가 먼저 채점하고, 사람이 확정한다</a:t>
            </a:r>
          </a:p>
        </p:txBody>
      </p:sp>
      <p:pic>
        <p:nvPicPr>
          <p:cNvPr id="7" name="Picture 6" descr="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03720" cy="4956517"/>
          </a:xfrm>
          <a:prstGeom prst="rect">
            <a:avLst/>
          </a:prstGeom>
          <a:ln w="12700">
            <a:solidFill>
              <a:srgbClr val="D1D6DB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7680960" y="1417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536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3분할 한눈에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좌 루브릭·모범답안 / 중 답안 / 우 AI 1차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560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679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AI 1차 (잠정 82)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향미 어휘 감지 · 루브릭 배점 합산 · 코멘트 초안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703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822191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사람이 확정 (85)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검수·조정해 확정. 자동 합·불 없음 — 사람이 손대야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846320"/>
            <a:ext cx="40233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4965192"/>
            <a:ext cx="373075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자격 이력에 기록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확정 시 응시자 수강 이력에 자격 결과로 남는다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효과 ·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그래서 무엇이 좋아지나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420624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83080"/>
            <a:ext cx="317296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내부 자료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68880"/>
            <a:ext cx="1005840" cy="18288"/>
          </a:xfrm>
          <a:prstGeom prst="roundRect">
            <a:avLst>
              <a:gd name="adj" fmla="val 6000"/>
            </a:avLst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97480"/>
            <a:ext cx="3172968" cy="2651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스타벅스 내부 자료를 평가 지문이자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채점 어휘로 그대로 쓴다.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새 평가틀을 만들 필요가 없다.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417320"/>
            <a:ext cx="3630168" cy="420624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83080"/>
            <a:ext cx="317296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채점 부담 경감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2468880"/>
            <a:ext cx="1005840" cy="18288"/>
          </a:xfrm>
          <a:prstGeom prst="roundRect">
            <a:avLst>
              <a:gd name="adj" fmla="val 6000"/>
            </a:avLst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697480"/>
            <a:ext cx="3172968" cy="2651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백지에서 채점하지 않고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AI 1차 초안을 손보기만 한다.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채점자 간 편차도 줄어든다.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3" y="1417320"/>
            <a:ext cx="3630168" cy="420624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1783080"/>
            <a:ext cx="317296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합격 = 자격 이력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5" y="2468880"/>
            <a:ext cx="1005840" cy="18288"/>
          </a:xfrm>
          <a:prstGeom prst="roundRect">
            <a:avLst>
              <a:gd name="adj" fmla="val 6000"/>
            </a:avLst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697480"/>
            <a:ext cx="3172968" cy="2651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통과 결과가 수강 이력에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자격으로 남는다.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이력 관리가 자연스럽게 이어진다.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04A"/>
                </a:solidFill>
                <a:latin typeface="Malgun Gothic"/>
                <a:ea typeface="Malgun Gothic"/>
                <a:cs typeface="Malgun Gothic"/>
              </a:rPr>
              <a:t>효과 ·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1차 제공 범위와 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단계별로 여는 제출 형식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58968" cy="1783080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 w="1270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75688"/>
            <a:ext cx="1324051" cy="292608"/>
          </a:xfrm>
          <a:prstGeom prst="roundRect">
            <a:avLst>
              <a:gd name="adj" fmla="val 50000"/>
            </a:avLst>
          </a:prstGeom>
          <a:solidFill>
            <a:srgbClr val="00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324051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 · 지금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5C3C"/>
                </a:solidFill>
                <a:latin typeface="Malgun Gothic"/>
                <a:ea typeface="Malgun Gothic"/>
                <a:cs typeface="Malgun Gothic"/>
              </a:rPr>
              <a:t>텍스트 서술 + 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결과물·단계 인증 사진까지 받습니다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58968" cy="1783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995928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6B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1422806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2단계 · 이어서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음성 · 영상 · 수치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효과가 큰 순서로 단계적으로 엽니다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874519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84831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이번 평가가 다루지 않는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78892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오프라인 집합 교육·출석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383279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실시간 화면 감독(프록터링)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977639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시스템 자동 합격·불합격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892040"/>
            <a:ext cx="4937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</a:rPr>
              <a:t>평가 범위를 또렷이 해, 꼭 필요한 것에 집중합니다.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78992"/>
            <a:ext cx="12191695" cy="18288"/>
          </a:xfrm>
          <a:prstGeom prst="roundRect">
            <a:avLst>
              <a:gd name="adj" fmla="val 6000"/>
            </a:avLst>
          </a:prstGeom>
          <a:solidFill>
            <a:srgbClr val="D1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마무리 ·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미팅에서 함께 확정할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운영 방식은 스타벅스와 함께 정합니다 — 아래를 논의 주제로 제안합니다.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15544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1  합격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02536"/>
            <a:ext cx="88696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70점 컷오프가 맞나? 자격별로 기준이 다른가?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25496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62072"/>
            <a:ext cx="15544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2  재응시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62072"/>
            <a:ext cx="88696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기본 1회 + 관리자 부여로 충분한가?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85031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7"/>
            <a:ext cx="15544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3  채점자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21607"/>
            <a:ext cx="88696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점장 1인인가, 2인 교차가 필요한 자격이 있나?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44567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81143"/>
            <a:ext cx="15544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4  제출 형식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81143"/>
            <a:ext cx="88696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사진까지가 1차로 적절한가? 영상·음성의 우선순위는?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04103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40679"/>
            <a:ext cx="15544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2700A"/>
                </a:solidFill>
                <a:latin typeface="Malgun Gothic"/>
                <a:ea typeface="Malgun Gothic"/>
                <a:cs typeface="Malgun Gothic"/>
              </a:rPr>
              <a:t>5  평가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440679"/>
            <a:ext cx="886968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91F28"/>
                </a:solidFill>
                <a:latin typeface="Malgun Gothic"/>
                <a:ea typeface="Malgun Gothic"/>
                <a:cs typeface="Malgun Gothic"/>
              </a:rPr>
              <a:t>테이스팅 외에 어떤 실습까지 평가하나?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스타벅스 바리스타 평가 · 2026-06-04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B95A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